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88" r:id="rId7"/>
    <p:sldId id="289" r:id="rId8"/>
    <p:sldId id="291" r:id="rId9"/>
    <p:sldId id="292" r:id="rId10"/>
    <p:sldId id="2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52" autoAdjust="0"/>
  </p:normalViewPr>
  <p:slideViewPr>
    <p:cSldViewPr snapToGrid="0" showGuides="1">
      <p:cViewPr varScale="1">
        <p:scale>
          <a:sx n="86" d="100"/>
          <a:sy n="86" d="100"/>
        </p:scale>
        <p:origin x="514" y="5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5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4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91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19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445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2/28/2021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79" y="4376036"/>
            <a:ext cx="12205981" cy="997196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BESTBUY Inventory Management Assignment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accent4"/>
                </a:solidFill>
              </a:rPr>
              <a:t>Presentation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371FCB5-270C-4963-BD0B-9A218D965B0D}"/>
              </a:ext>
            </a:extLst>
          </p:cNvPr>
          <p:cNvSpPr txBox="1"/>
          <p:nvPr/>
        </p:nvSpPr>
        <p:spPr>
          <a:xfrm>
            <a:off x="5140321" y="5863419"/>
            <a:ext cx="1911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Dorothy Zou </a:t>
            </a:r>
            <a:endParaRPr lang="en-CA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Inventory Management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Business Purpose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Design the solution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Data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understanding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6999" y="2708005"/>
            <a:ext cx="1493712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Models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development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and applications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Further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Improvement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11980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Understanding the business requirements, pain points, market background knowledge, desire.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954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Design the solution and the path of accomplishment to solve this problem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710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Explore the data and demonstrate data visualization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6853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Design, develop and optimize two models used for solving the issue of this project; describe the applications of the models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710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Discuss the further enhancement of the base models</a:t>
            </a:r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8075801" y="2149264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8" name="Group 57" descr="Icon of money.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5905833" y="2296118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1581242" y="2332037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Freeform 4665" descr="Icon of graph. ">
            <a:extLst>
              <a:ext uri="{FF2B5EF4-FFF2-40B4-BE49-F238E27FC236}">
                <a16:creationId xmlns:a16="http://schemas.microsoft.com/office/drawing/2014/main" id="{AB5D2A74-0845-435F-9C75-8B2B56F14E92}"/>
              </a:ext>
            </a:extLst>
          </p:cNvPr>
          <p:cNvSpPr>
            <a:spLocks/>
          </p:cNvSpPr>
          <p:nvPr/>
        </p:nvSpPr>
        <p:spPr bwMode="auto">
          <a:xfrm>
            <a:off x="3755363" y="2296464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Inventory Management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307199" y="1065022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</a:rPr>
              <a:t>    Business requirements: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307199" y="309660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</a:rPr>
              <a:t>     Steps: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19DC4-04A4-48AA-BB18-54DC7247A80B}"/>
              </a:ext>
            </a:extLst>
          </p:cNvPr>
          <p:cNvSpPr txBox="1"/>
          <p:nvPr/>
        </p:nvSpPr>
        <p:spPr>
          <a:xfrm>
            <a:off x="228600" y="1887623"/>
            <a:ext cx="6902787" cy="8717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Sales forecasts by a model and guide the inventory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to minimize the warehouse space but also satisfy customers’ demand.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03257-7027-4E05-9589-ECFDB2770586}"/>
              </a:ext>
            </a:extLst>
          </p:cNvPr>
          <p:cNvSpPr txBox="1"/>
          <p:nvPr/>
        </p:nvSpPr>
        <p:spPr>
          <a:xfrm>
            <a:off x="377505" y="4068661"/>
            <a:ext cx="11524886" cy="211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 minimize the warehouse space, we need to consider whether the current stock is much more than the demand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Assumes all five products (A,B,C,D,E) have the same size, then the problem is how much inventory we need to buy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Inventory is related to customers’ demand, then the problem becomes what customers</a:t>
            </a:r>
            <a:r>
              <a:rPr lang="en-CA" dirty="0"/>
              <a:t>’ demand 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/>
              <a:t>The solution is to build a forecast model to predict customers’ demand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/>
              <a:t>The following step is to compare the demand and current stock so we can decide the inventory amount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17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Inventory Management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EC18BB-85FE-47A6-A33B-0FA4759F8312}"/>
              </a:ext>
            </a:extLst>
          </p:cNvPr>
          <p:cNvSpPr txBox="1"/>
          <p:nvPr/>
        </p:nvSpPr>
        <p:spPr>
          <a:xfrm>
            <a:off x="407155" y="637402"/>
            <a:ext cx="3607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The orders condition in weeks of product A, B, C, D, E</a:t>
            </a:r>
            <a:endParaRPr lang="en-CA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2A4E2C-2ED8-46D0-90D2-3D1BBFF0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97" y="914400"/>
            <a:ext cx="3109342" cy="293840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EC1FA96-EECF-4F67-91E7-56AACFAC7DAA}"/>
              </a:ext>
            </a:extLst>
          </p:cNvPr>
          <p:cNvSpPr txBox="1"/>
          <p:nvPr/>
        </p:nvSpPr>
        <p:spPr>
          <a:xfrm>
            <a:off x="4014361" y="643826"/>
            <a:ext cx="40246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Customer's interests (views) in weeks of product A, B, C, D, E</a:t>
            </a:r>
            <a:endParaRPr lang="en-CA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2E637B-63FB-4BE0-997B-502EF1499524}"/>
              </a:ext>
            </a:extLst>
          </p:cNvPr>
          <p:cNvSpPr txBox="1"/>
          <p:nvPr/>
        </p:nvSpPr>
        <p:spPr>
          <a:xfrm>
            <a:off x="7993318" y="650250"/>
            <a:ext cx="4302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Customer's interests (</a:t>
            </a:r>
            <a:r>
              <a:rPr lang="en-US" sz="1200" dirty="0" err="1"/>
              <a:t>cart_adds</a:t>
            </a:r>
            <a:r>
              <a:rPr lang="en-US" sz="1200" dirty="0"/>
              <a:t>) in weeks of product A, B, C, D, E</a:t>
            </a:r>
            <a:endParaRPr lang="en-CA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0141A9-FB98-42D0-9010-63454F53BED1}"/>
              </a:ext>
            </a:extLst>
          </p:cNvPr>
          <p:cNvSpPr txBox="1"/>
          <p:nvPr/>
        </p:nvSpPr>
        <p:spPr>
          <a:xfrm>
            <a:off x="1878517" y="3851783"/>
            <a:ext cx="3158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Price changes in weeks of product A, B, C, D, E</a:t>
            </a:r>
            <a:endParaRPr lang="en-CA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9E6CBB-5A71-41CB-9A92-F9BE91595909}"/>
              </a:ext>
            </a:extLst>
          </p:cNvPr>
          <p:cNvSpPr txBox="1"/>
          <p:nvPr/>
        </p:nvSpPr>
        <p:spPr>
          <a:xfrm>
            <a:off x="7002300" y="3851783"/>
            <a:ext cx="3607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Inventory conditions in weeks of product A, B, C, D, E</a:t>
            </a:r>
            <a:endParaRPr lang="en-CA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8E61234-4C6F-44AF-B106-F6011E3F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140" y="897789"/>
            <a:ext cx="3109342" cy="297703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EF36DB-2ACC-48C3-90AE-AE2D063CA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740" y="962363"/>
            <a:ext cx="3107547" cy="28462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C067D45-E3EA-43BB-A0DD-C9A96D385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0853" y="4128782"/>
            <a:ext cx="2899467" cy="254824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257B8BD-5077-47C4-9B01-3FD0188D66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32" y="4111212"/>
            <a:ext cx="2972514" cy="269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6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Inventory Management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307199" y="1065022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</a:rPr>
              <a:t>    Orders forecast model: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307199" y="4097326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</a:rPr>
              <a:t>     Inventory optimization model: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19DC4-04A4-48AA-BB18-54DC7247A80B}"/>
              </a:ext>
            </a:extLst>
          </p:cNvPr>
          <p:cNvSpPr txBox="1"/>
          <p:nvPr/>
        </p:nvSpPr>
        <p:spPr>
          <a:xfrm>
            <a:off x="307199" y="1729819"/>
            <a:ext cx="10405542" cy="211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Purpose: predict the customer demand at certain time with other marketing data of a product</a:t>
            </a:r>
          </a:p>
          <a:p>
            <a:pPr>
              <a:lnSpc>
                <a:spcPct val="150000"/>
              </a:lnSpc>
            </a:pPr>
            <a:r>
              <a:rPr lang="en-US" dirty="0"/>
              <a:t>Data used: time, price, views, cart-adds, product name</a:t>
            </a:r>
          </a:p>
          <a:p>
            <a:pPr>
              <a:lnSpc>
                <a:spcPct val="150000"/>
              </a:lnSpc>
            </a:pPr>
            <a:r>
              <a:rPr lang="en-US" dirty="0"/>
              <a:t>Accuracy/error value (MSE): 32.6</a:t>
            </a:r>
          </a:p>
          <a:p>
            <a:pPr>
              <a:lnSpc>
                <a:spcPct val="150000"/>
              </a:lnSpc>
            </a:pPr>
            <a:r>
              <a:rPr lang="en-US" dirty="0"/>
              <a:t>How to use: call the model with planned data time, price, views from last week, cart-adds from last week, 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        product name; outputs the demand of the product.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03257-7027-4E05-9589-ECFDB2770586}"/>
              </a:ext>
            </a:extLst>
          </p:cNvPr>
          <p:cNvSpPr txBox="1"/>
          <p:nvPr/>
        </p:nvSpPr>
        <p:spPr>
          <a:xfrm>
            <a:off x="307199" y="4921265"/>
            <a:ext cx="11554834" cy="128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Purpose: Compare the current stock and the demands to make sure the stock next week can fulfill customers’ orders</a:t>
            </a:r>
          </a:p>
          <a:p>
            <a:pPr>
              <a:lnSpc>
                <a:spcPct val="150000"/>
              </a:lnSpc>
            </a:pPr>
            <a:r>
              <a:rPr lang="en-US" dirty="0"/>
              <a:t>How to use: Use Excel and Solver (one-step solution), or you can calculate the difference between current stock and 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        demand which equals to the inventory amount. </a:t>
            </a:r>
          </a:p>
        </p:txBody>
      </p:sp>
    </p:spTree>
    <p:extLst>
      <p:ext uri="{BB962C8B-B14F-4D97-AF65-F5344CB8AC3E}">
        <p14:creationId xmlns:p14="http://schemas.microsoft.com/office/powerpoint/2010/main" val="232103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Inventory Management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Further improvement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6828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623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6419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1725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1521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1316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1199983" y="1255661"/>
            <a:ext cx="2716265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Data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limitation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The input data only covered one year. The seasonality effect of supply-demand will be more obvious if the data covered longer time.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8049469" y="966484"/>
            <a:ext cx="2716265" cy="16853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The particularity of products: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The input data does not include what the products are. The relations among products, the departments of them and deeper particularity could be found out if the products are known.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F5370-BF8E-406B-BEAE-B1224615626A}"/>
              </a:ext>
            </a:extLst>
          </p:cNvPr>
          <p:cNvSpPr/>
          <p:nvPr/>
        </p:nvSpPr>
        <p:spPr>
          <a:xfrm>
            <a:off x="1330282" y="3639655"/>
            <a:ext cx="2428875" cy="16853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Products: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Consider its lifetime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/service time of the product, some products require fulfill or exchange after a period of time, so the orders of these products have more structured patterns.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F5A313-1C6C-4AEE-8556-576074B1BF06}"/>
              </a:ext>
            </a:extLst>
          </p:cNvPr>
          <p:cNvSpPr/>
          <p:nvPr/>
        </p:nvSpPr>
        <p:spPr>
          <a:xfrm>
            <a:off x="5234012" y="5095188"/>
            <a:ext cx="2428875" cy="16853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Products:</a:t>
            </a:r>
          </a:p>
          <a:p>
            <a:pPr>
              <a:lnSpc>
                <a:spcPts val="1900"/>
              </a:lnSpc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Bestbuy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sells many electronic appliances which may update very quickly, so each product has the risk of being less popular after the new generation comes out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10CC8-6624-4352-A642-89EF6FA7DCE6}"/>
              </a:ext>
            </a:extLst>
          </p:cNvPr>
          <p:cNvSpPr/>
          <p:nvPr/>
        </p:nvSpPr>
        <p:spPr>
          <a:xfrm>
            <a:off x="8769274" y="4178891"/>
            <a:ext cx="2428875" cy="19289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Price and demand: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Price may impact the demand; some customers changed their mind/made decisions about ordering about prices. Also, the price of same products from competitors will also impact customers’ demand in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Bestbuy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41" name="Group 40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4144646" y="2903628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42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3" name="Group 52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5571346" y="2901918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54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0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6963181" y="2902974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Freeform 3850" descr="Icon of lightning. ">
            <a:extLst>
              <a:ext uri="{FF2B5EF4-FFF2-40B4-BE49-F238E27FC236}">
                <a16:creationId xmlns:a16="http://schemas.microsoft.com/office/drawing/2014/main" id="{4F438411-AB3F-41D1-B7B0-3BD67465A272}"/>
              </a:ext>
            </a:extLst>
          </p:cNvPr>
          <p:cNvSpPr>
            <a:spLocks/>
          </p:cNvSpPr>
          <p:nvPr/>
        </p:nvSpPr>
        <p:spPr bwMode="auto">
          <a:xfrm>
            <a:off x="4904481" y="4108092"/>
            <a:ext cx="268346" cy="380334"/>
          </a:xfrm>
          <a:custGeom>
            <a:avLst/>
            <a:gdLst>
              <a:gd name="T0" fmla="*/ 635 w 636"/>
              <a:gd name="T1" fmla="*/ 369 h 901"/>
              <a:gd name="T2" fmla="*/ 632 w 636"/>
              <a:gd name="T3" fmla="*/ 365 h 901"/>
              <a:gd name="T4" fmla="*/ 629 w 636"/>
              <a:gd name="T5" fmla="*/ 362 h 901"/>
              <a:gd name="T6" fmla="*/ 625 w 636"/>
              <a:gd name="T7" fmla="*/ 360 h 901"/>
              <a:gd name="T8" fmla="*/ 621 w 636"/>
              <a:gd name="T9" fmla="*/ 360 h 901"/>
              <a:gd name="T10" fmla="*/ 337 w 636"/>
              <a:gd name="T11" fmla="*/ 360 h 901"/>
              <a:gd name="T12" fmla="*/ 409 w 636"/>
              <a:gd name="T13" fmla="*/ 17 h 901"/>
              <a:gd name="T14" fmla="*/ 409 w 636"/>
              <a:gd name="T15" fmla="*/ 13 h 901"/>
              <a:gd name="T16" fmla="*/ 408 w 636"/>
              <a:gd name="T17" fmla="*/ 7 h 901"/>
              <a:gd name="T18" fmla="*/ 405 w 636"/>
              <a:gd name="T19" fmla="*/ 3 h 901"/>
              <a:gd name="T20" fmla="*/ 400 w 636"/>
              <a:gd name="T21" fmla="*/ 1 h 901"/>
              <a:gd name="T22" fmla="*/ 395 w 636"/>
              <a:gd name="T23" fmla="*/ 0 h 901"/>
              <a:gd name="T24" fmla="*/ 390 w 636"/>
              <a:gd name="T25" fmla="*/ 0 h 901"/>
              <a:gd name="T26" fmla="*/ 385 w 636"/>
              <a:gd name="T27" fmla="*/ 2 h 901"/>
              <a:gd name="T28" fmla="*/ 382 w 636"/>
              <a:gd name="T29" fmla="*/ 6 h 901"/>
              <a:gd name="T30" fmla="*/ 2 w 636"/>
              <a:gd name="T31" fmla="*/ 547 h 901"/>
              <a:gd name="T32" fmla="*/ 1 w 636"/>
              <a:gd name="T33" fmla="*/ 550 h 901"/>
              <a:gd name="T34" fmla="*/ 0 w 636"/>
              <a:gd name="T35" fmla="*/ 554 h 901"/>
              <a:gd name="T36" fmla="*/ 0 w 636"/>
              <a:gd name="T37" fmla="*/ 559 h 901"/>
              <a:gd name="T38" fmla="*/ 1 w 636"/>
              <a:gd name="T39" fmla="*/ 562 h 901"/>
              <a:gd name="T40" fmla="*/ 4 w 636"/>
              <a:gd name="T41" fmla="*/ 566 h 901"/>
              <a:gd name="T42" fmla="*/ 8 w 636"/>
              <a:gd name="T43" fmla="*/ 568 h 901"/>
              <a:gd name="T44" fmla="*/ 11 w 636"/>
              <a:gd name="T45" fmla="*/ 569 h 901"/>
              <a:gd name="T46" fmla="*/ 15 w 636"/>
              <a:gd name="T47" fmla="*/ 570 h 901"/>
              <a:gd name="T48" fmla="*/ 299 w 636"/>
              <a:gd name="T49" fmla="*/ 570 h 901"/>
              <a:gd name="T50" fmla="*/ 228 w 636"/>
              <a:gd name="T51" fmla="*/ 882 h 901"/>
              <a:gd name="T52" fmla="*/ 228 w 636"/>
              <a:gd name="T53" fmla="*/ 888 h 901"/>
              <a:gd name="T54" fmla="*/ 229 w 636"/>
              <a:gd name="T55" fmla="*/ 892 h 901"/>
              <a:gd name="T56" fmla="*/ 232 w 636"/>
              <a:gd name="T57" fmla="*/ 896 h 901"/>
              <a:gd name="T58" fmla="*/ 236 w 636"/>
              <a:gd name="T59" fmla="*/ 900 h 901"/>
              <a:gd name="T60" fmla="*/ 239 w 636"/>
              <a:gd name="T61" fmla="*/ 901 h 901"/>
              <a:gd name="T62" fmla="*/ 243 w 636"/>
              <a:gd name="T63" fmla="*/ 901 h 901"/>
              <a:gd name="T64" fmla="*/ 246 w 636"/>
              <a:gd name="T65" fmla="*/ 901 h 901"/>
              <a:gd name="T66" fmla="*/ 249 w 636"/>
              <a:gd name="T67" fmla="*/ 900 h 901"/>
              <a:gd name="T68" fmla="*/ 252 w 636"/>
              <a:gd name="T69" fmla="*/ 897 h 901"/>
              <a:gd name="T70" fmla="*/ 254 w 636"/>
              <a:gd name="T71" fmla="*/ 895 h 901"/>
              <a:gd name="T72" fmla="*/ 633 w 636"/>
              <a:gd name="T73" fmla="*/ 384 h 901"/>
              <a:gd name="T74" fmla="*/ 635 w 636"/>
              <a:gd name="T75" fmla="*/ 381 h 901"/>
              <a:gd name="T76" fmla="*/ 636 w 636"/>
              <a:gd name="T77" fmla="*/ 376 h 901"/>
              <a:gd name="T78" fmla="*/ 636 w 636"/>
              <a:gd name="T79" fmla="*/ 372 h 901"/>
              <a:gd name="T80" fmla="*/ 635 w 636"/>
              <a:gd name="T81" fmla="*/ 369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36" h="901">
                <a:moveTo>
                  <a:pt x="635" y="369"/>
                </a:moveTo>
                <a:lnTo>
                  <a:pt x="632" y="365"/>
                </a:lnTo>
                <a:lnTo>
                  <a:pt x="629" y="362"/>
                </a:lnTo>
                <a:lnTo>
                  <a:pt x="625" y="360"/>
                </a:lnTo>
                <a:lnTo>
                  <a:pt x="621" y="360"/>
                </a:lnTo>
                <a:lnTo>
                  <a:pt x="337" y="360"/>
                </a:lnTo>
                <a:lnTo>
                  <a:pt x="409" y="17"/>
                </a:lnTo>
                <a:lnTo>
                  <a:pt x="409" y="13"/>
                </a:lnTo>
                <a:lnTo>
                  <a:pt x="408" y="7"/>
                </a:lnTo>
                <a:lnTo>
                  <a:pt x="405" y="3"/>
                </a:lnTo>
                <a:lnTo>
                  <a:pt x="400" y="1"/>
                </a:lnTo>
                <a:lnTo>
                  <a:pt x="395" y="0"/>
                </a:lnTo>
                <a:lnTo>
                  <a:pt x="390" y="0"/>
                </a:lnTo>
                <a:lnTo>
                  <a:pt x="385" y="2"/>
                </a:lnTo>
                <a:lnTo>
                  <a:pt x="382" y="6"/>
                </a:lnTo>
                <a:lnTo>
                  <a:pt x="2" y="547"/>
                </a:lnTo>
                <a:lnTo>
                  <a:pt x="1" y="550"/>
                </a:lnTo>
                <a:lnTo>
                  <a:pt x="0" y="554"/>
                </a:lnTo>
                <a:lnTo>
                  <a:pt x="0" y="559"/>
                </a:lnTo>
                <a:lnTo>
                  <a:pt x="1" y="562"/>
                </a:lnTo>
                <a:lnTo>
                  <a:pt x="4" y="566"/>
                </a:lnTo>
                <a:lnTo>
                  <a:pt x="8" y="568"/>
                </a:lnTo>
                <a:lnTo>
                  <a:pt x="11" y="569"/>
                </a:lnTo>
                <a:lnTo>
                  <a:pt x="15" y="570"/>
                </a:lnTo>
                <a:lnTo>
                  <a:pt x="299" y="570"/>
                </a:lnTo>
                <a:lnTo>
                  <a:pt x="228" y="882"/>
                </a:lnTo>
                <a:lnTo>
                  <a:pt x="228" y="888"/>
                </a:lnTo>
                <a:lnTo>
                  <a:pt x="229" y="892"/>
                </a:lnTo>
                <a:lnTo>
                  <a:pt x="232" y="896"/>
                </a:lnTo>
                <a:lnTo>
                  <a:pt x="236" y="900"/>
                </a:lnTo>
                <a:lnTo>
                  <a:pt x="239" y="901"/>
                </a:lnTo>
                <a:lnTo>
                  <a:pt x="243" y="901"/>
                </a:lnTo>
                <a:lnTo>
                  <a:pt x="246" y="901"/>
                </a:lnTo>
                <a:lnTo>
                  <a:pt x="249" y="900"/>
                </a:lnTo>
                <a:lnTo>
                  <a:pt x="252" y="897"/>
                </a:lnTo>
                <a:lnTo>
                  <a:pt x="254" y="895"/>
                </a:lnTo>
                <a:lnTo>
                  <a:pt x="633" y="384"/>
                </a:lnTo>
                <a:lnTo>
                  <a:pt x="635" y="381"/>
                </a:lnTo>
                <a:lnTo>
                  <a:pt x="636" y="376"/>
                </a:lnTo>
                <a:lnTo>
                  <a:pt x="636" y="372"/>
                </a:lnTo>
                <a:lnTo>
                  <a:pt x="635" y="36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6257227" y="4108092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73" name="Group 72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7667022" y="4107036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74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9649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DEC91-0210-45CB-B59A-1E7D9806DACC}"/>
              </a:ext>
            </a:extLst>
          </p:cNvPr>
          <p:cNvSpPr txBox="1"/>
          <p:nvPr/>
        </p:nvSpPr>
        <p:spPr>
          <a:xfrm>
            <a:off x="5140321" y="5537767"/>
            <a:ext cx="1911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Dorothy Zou </a:t>
            </a:r>
            <a:endParaRPr lang="en-CA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748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593</TotalTime>
  <Words>646</Words>
  <Application>Microsoft Office PowerPoint</Application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Segoe UI Light</vt:lpstr>
      <vt:lpstr>Office Theme</vt:lpstr>
      <vt:lpstr>BESTBUY Inventory Management Assignment Presentation</vt:lpstr>
      <vt:lpstr>Project analysis slide 3</vt:lpstr>
      <vt:lpstr>Project analysis slide 8</vt:lpstr>
      <vt:lpstr>Project analysis slide 10</vt:lpstr>
      <vt:lpstr>Project analysis slide 8</vt:lpstr>
      <vt:lpstr>Project analysis slide 6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BESTBUY Inventory Management Assignment Presentation</dc:title>
  <dc:creator>Dorothy Zou</dc:creator>
  <cp:lastModifiedBy>Dorothy Zou</cp:lastModifiedBy>
  <cp:revision>29</cp:revision>
  <dcterms:created xsi:type="dcterms:W3CDTF">2021-02-28T12:02:42Z</dcterms:created>
  <dcterms:modified xsi:type="dcterms:W3CDTF">2021-02-28T21:55:47Z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